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Gill Sans" panose="020B0604020202020204" charset="0"/>
      <p:regular r:id="rId25"/>
      <p:bold r:id="rId26"/>
    </p:embeddedFont>
    <p:embeddedFont>
      <p:font typeface="Poppins" panose="020B0604020202020204" charset="0"/>
      <p:regular r:id="rId27"/>
      <p:bold r:id="rId28"/>
      <p:italic r:id="rId29"/>
      <p:boldItalic r:id="rId30"/>
    </p:embeddedFont>
    <p:embeddedFont>
      <p:font typeface="Poppins Medium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7E6033-E009-436F-B9FF-DA368144F852}">
  <a:tblStyle styleId="{FC7E6033-E009-436F-B9FF-DA368144F8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b68b700a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b68b700a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 Relatório “Education at a Glance” de 2017, da OCDE, suscita a oportunidade para uma reflexão sobre os desafios do Ensino Superior no Brasil.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 relatório publicado pela OCDE em 2017 ¹ : Um dos desafio do Ensino Superior no Brasil é o da qualidade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Na maioria dos países desenvolvidos: 30% dos concluintes do Ensino Médio ingressam em algum curso superior. 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Em alguns países, como os Estados Unidos: Esse número chega a 50%. No Brasil é apenas 18,1%. No Brasil, há ilhas de excelência aqui e ali.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bb4ef553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bb4ef553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6816302298b457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6816302298b457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Enade </a:t>
            </a:r>
            <a:r>
              <a:rPr lang="pt-BR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– avalia o desempenho dos concluintes dos cursos de graduação em relação aos conteúdos que se propõem a ensinar e as habilidades e as competências desenvolvidas pelo estudante durante sua formação. O exame é obrigatório: apenas o concluinte que responder ao Questionário do Estudante e realizar a prova pode colar grau.  A cada ano o Enade se dedica a um Ciclo Avaliativo Trienal.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b68b700a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b68b700a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6816302298b457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e6816302298b457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b54b72b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b54b72b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597a10031c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597a10031c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c7134836d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c7134836d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Descrição do tipo de problema e a abordagem utilizada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bb4ef553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bb4ef553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5b54b72bc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5b54b72bc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b54b72bc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b54b72bc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Chrolopeth para identificar padrões regionais de desempenho médio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b54b72bc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b54b72bc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Após essa visualização, foi realizado a categorização das notas: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Notas BAIXA [0 - 2,5]     = 38.841   (8.77%)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Notas MEDIA [2,5 - 6,0] = 346.184 (78.1%)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Notas ALTA [6,0 - 10,0]  = 57.843    (13.06%)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97a1003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97a1003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Descrição do tipo de problema e a abordagem utilizada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bb4ef553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5bb4ef553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5c8ef4a27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5c8ef4a27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d4badb52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5d4badb52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5b54b72bc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5b54b72bc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bb4ef553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bb4ef553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bb4ef553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bb4ef553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5b54b72bc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5b54b72bc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6816302298b457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6816302298b457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3">
            <a:alphaModFix amt="25000"/>
          </a:blip>
          <a:srcRect b="28515"/>
          <a:stretch/>
        </p:blipFill>
        <p:spPr>
          <a:xfrm>
            <a:off x="8330150" y="157250"/>
            <a:ext cx="691000" cy="8604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10;p1"/>
          <p:cNvPicPr preferRelativeResize="0"/>
          <p:nvPr/>
        </p:nvPicPr>
        <p:blipFill>
          <a:blip r:embed="rId14">
            <a:alphaModFix amt="25000"/>
          </a:blip>
          <a:stretch>
            <a:fillRect/>
          </a:stretch>
        </p:blipFill>
        <p:spPr>
          <a:xfrm>
            <a:off x="311688" y="220763"/>
            <a:ext cx="1419225" cy="7334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ownload.inep.gov.br/acoes_internacionais/eag/documentos/2017/relatorio_education_at_a_glance_2017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43175" y="1294125"/>
            <a:ext cx="7497000" cy="23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434343"/>
                </a:solidFill>
                <a:latin typeface="Gill Sans"/>
                <a:ea typeface="Gill Sans"/>
                <a:cs typeface="Gill Sans"/>
                <a:sym typeface="Gill Sans"/>
              </a:rPr>
              <a:t>Como minerar regras de associação </a:t>
            </a:r>
            <a:endParaRPr sz="3600">
              <a:solidFill>
                <a:srgbClr val="43434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434343"/>
                </a:solidFill>
                <a:latin typeface="Gill Sans"/>
                <a:ea typeface="Gill Sans"/>
                <a:cs typeface="Gill Sans"/>
                <a:sym typeface="Gill Sans"/>
              </a:rPr>
              <a:t>para auxiliar na tomada de decisão de gestores da educação superior?</a:t>
            </a:r>
            <a:endParaRPr sz="3600">
              <a:solidFill>
                <a:srgbClr val="43434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43175" y="4196025"/>
            <a:ext cx="47793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257425" y="1289325"/>
            <a:ext cx="8730900" cy="3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Relatório da OCDE 2017¹ :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Brasil encontra problemas em relação a </a:t>
            </a:r>
            <a:r>
              <a:rPr lang="pt-BR" sz="18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qualidade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18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igualdade </a:t>
            </a:r>
            <a:r>
              <a:rPr lang="pt-BR" sz="18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da Educação</a:t>
            </a:r>
            <a:endParaRPr sz="18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Poppins"/>
              <a:buChar char="●"/>
            </a:pPr>
            <a:r>
              <a:rPr lang="pt-BR" sz="18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Ilhas de excelência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Finlândia, em termos percentuais da despesa pública total, a despesa com Educação é menor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975" y="4730000"/>
            <a:ext cx="91440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¹ Education at a Glance 2017; </a:t>
            </a:r>
            <a:endParaRPr sz="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Disponível em: &lt;</a:t>
            </a:r>
            <a:r>
              <a:rPr lang="pt-BR" sz="900" u="sng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http://download.inep.gov.br/acoes_internacionais/eag/documentos/2017/relatorio_education_at_a_glance_2017.pdf</a:t>
            </a:r>
            <a:r>
              <a:rPr lang="pt-BR" sz="9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sz="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311700" y="1298250"/>
            <a:ext cx="8520600" cy="25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“</a:t>
            </a:r>
            <a:r>
              <a:rPr lang="pt-BR" sz="3000">
                <a:latin typeface="Poppins"/>
                <a:ea typeface="Poppins"/>
                <a:cs typeface="Poppins"/>
                <a:sym typeface="Poppins"/>
              </a:rPr>
              <a:t>a educação pública de qualidade não é resultado apenas de </a:t>
            </a:r>
            <a:r>
              <a:rPr lang="pt-BR" sz="3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políticas educacionais</a:t>
            </a:r>
            <a:r>
              <a:rPr lang="pt-BR" sz="3000">
                <a:latin typeface="Poppins"/>
                <a:ea typeface="Poppins"/>
                <a:cs typeface="Poppins"/>
                <a:sym typeface="Poppins"/>
              </a:rPr>
              <a:t>, mas também de 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políticas sociais</a:t>
            </a:r>
            <a:r>
              <a:rPr lang="pt-BR" sz="3000"/>
              <a:t>”</a:t>
            </a:r>
            <a:endParaRPr sz="30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/>
              <a:t>Pasi Sahlberg</a:t>
            </a:r>
            <a:endParaRPr sz="2400" i="1"/>
          </a:p>
        </p:txBody>
      </p:sp>
      <p:sp>
        <p:nvSpPr>
          <p:cNvPr id="69" name="Google Shape;69;p15"/>
          <p:cNvSpPr txBox="1"/>
          <p:nvPr/>
        </p:nvSpPr>
        <p:spPr>
          <a:xfrm>
            <a:off x="4975" y="4730000"/>
            <a:ext cx="91440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Como oportunidades iguais a ricos e pobres ajudaram Finlândia a virar referência em educação; </a:t>
            </a:r>
            <a:endParaRPr sz="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Disponível em: &lt;https://www.bbc.com/portuguese/internacional-45489669&gt;</a:t>
            </a:r>
            <a:endParaRPr sz="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722550" y="2571750"/>
            <a:ext cx="7163100" cy="17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Font typeface="Poppins"/>
              <a:buChar char="●"/>
            </a:pPr>
            <a:r>
              <a:rPr lang="pt-BR" sz="1600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ENADE</a:t>
            </a:r>
            <a:r>
              <a:rPr lang="pt-BR" b="1">
                <a:solidFill>
                  <a:srgbClr val="4581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600" b="1">
              <a:solidFill>
                <a:srgbClr val="45818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pt-BR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avaliar o desempenho dos alunos das IES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pt-BR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Questionário do Estudante</a:t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pt-BR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avaliação de ciclo trienal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169800" y="1349325"/>
            <a:ext cx="88044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pt-BR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entender o </a:t>
            </a:r>
            <a:r>
              <a:rPr lang="pt-BR" sz="1800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perfil</a:t>
            </a:r>
            <a:r>
              <a:rPr lang="pt-BR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o </a:t>
            </a:r>
            <a:r>
              <a:rPr lang="pt-BR" sz="1800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desempenho</a:t>
            </a:r>
            <a:r>
              <a:rPr lang="pt-BR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dos concluintes das IES do Brasil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704975" y="305725"/>
            <a:ext cx="656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Gill Sans"/>
                <a:ea typeface="Gill Sans"/>
                <a:cs typeface="Gill Sans"/>
                <a:sym typeface="Gill Sans"/>
              </a:rPr>
              <a:t>Áreas avaliadas - ENADE 2017</a:t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413138" y="106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818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3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Bacharel nas áreas de Arquitetura e Urbanismo; Engenharia Ambiental; Engenharia Civil; Engenharia de Alimentos; Engenharia de Computação; Engenharia de Controle e Automação; Engenharia de Produção; Engenharia Elétrica; Engenharia Florestal; Engenharia Mecânica; Engenharia Química; Engenharia; e Sistema de Informação.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4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Bacharel ou Licenciatura em Ciência da Computação; Ciências Biológicas; Ciências Sociais; Filosofia; Física; Geografia; História; Letras  Português; Matemática; e Química.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Licenciatura em Artes Visuais; Educação Física; Letras - Português e Espanhol; Letras - Português e Inglês; Letras - Inglês; Música; e Pedagogia.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Tecnólogo em Análise e Desenvolvimento de Sistemas; Gestão da Produção Industrial; Redes de Computadores; e Gestão da Tecnologia da Informação.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1687750" y="297750"/>
            <a:ext cx="6582900" cy="5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34343"/>
                </a:solidFill>
                <a:latin typeface="Gill Sans"/>
                <a:ea typeface="Gill Sans"/>
                <a:cs typeface="Gill Sans"/>
                <a:sym typeface="Gill Sans"/>
              </a:rPr>
              <a:t>Metodologia</a:t>
            </a:r>
            <a:endParaRPr sz="3000">
              <a:solidFill>
                <a:srgbClr val="43434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608250" y="1533900"/>
            <a:ext cx="1629900" cy="783300"/>
          </a:xfrm>
          <a:prstGeom prst="flowChartAlternateProcess">
            <a:avLst/>
          </a:prstGeom>
          <a:solidFill>
            <a:srgbClr val="F1C23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Coleta dos Dados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086938" y="1533900"/>
            <a:ext cx="1629900" cy="783300"/>
          </a:xfrm>
          <a:prstGeom prst="flowChartAlternateProcess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Limpeza dos Dados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5411050" y="1533900"/>
            <a:ext cx="1629900" cy="783300"/>
          </a:xfrm>
          <a:prstGeom prst="flowChartAlternateProcess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Análise Exploratória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0" name="Google Shape;90;p18"/>
          <p:cNvCxnSpPr>
            <a:stCxn id="87" idx="3"/>
            <a:endCxn id="88" idx="1"/>
          </p:cNvCxnSpPr>
          <p:nvPr/>
        </p:nvCxnSpPr>
        <p:spPr>
          <a:xfrm>
            <a:off x="2238150" y="1925550"/>
            <a:ext cx="848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91;p18"/>
          <p:cNvCxnSpPr>
            <a:stCxn id="88" idx="3"/>
            <a:endCxn id="89" idx="1"/>
          </p:cNvCxnSpPr>
          <p:nvPr/>
        </p:nvCxnSpPr>
        <p:spPr>
          <a:xfrm>
            <a:off x="4716838" y="1925550"/>
            <a:ext cx="694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92;p18"/>
          <p:cNvCxnSpPr>
            <a:stCxn id="89" idx="0"/>
            <a:endCxn id="88" idx="0"/>
          </p:cNvCxnSpPr>
          <p:nvPr/>
        </p:nvCxnSpPr>
        <p:spPr>
          <a:xfrm rot="5400000">
            <a:off x="5063650" y="372150"/>
            <a:ext cx="600" cy="23241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8"/>
          <p:cNvSpPr/>
          <p:nvPr/>
        </p:nvSpPr>
        <p:spPr>
          <a:xfrm>
            <a:off x="7180600" y="2571750"/>
            <a:ext cx="1629900" cy="783300"/>
          </a:xfrm>
          <a:prstGeom prst="flowChartAlternateProcess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Construção do Modelo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5271400" y="3761325"/>
            <a:ext cx="1909200" cy="783300"/>
          </a:xfrm>
          <a:prstGeom prst="flowChartAlternateProcess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Otimização dos Hiperparâmetros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3086938" y="3761325"/>
            <a:ext cx="1629900" cy="783300"/>
          </a:xfrm>
          <a:prstGeom prst="flowChartAlternateProcess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Geração das Regras 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08250" y="3761325"/>
            <a:ext cx="1629900" cy="783300"/>
          </a:xfrm>
          <a:prstGeom prst="flowChartAlternateProcess">
            <a:avLst/>
          </a:prstGeom>
          <a:solidFill>
            <a:srgbClr val="F1C23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Mineração das Regras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7" name="Google Shape;97;p18"/>
          <p:cNvCxnSpPr>
            <a:stCxn id="94" idx="1"/>
            <a:endCxn id="95" idx="3"/>
          </p:cNvCxnSpPr>
          <p:nvPr/>
        </p:nvCxnSpPr>
        <p:spPr>
          <a:xfrm rot="10800000">
            <a:off x="4716700" y="4152975"/>
            <a:ext cx="554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" name="Google Shape;98;p18"/>
          <p:cNvCxnSpPr>
            <a:stCxn id="95" idx="1"/>
            <a:endCxn id="96" idx="3"/>
          </p:cNvCxnSpPr>
          <p:nvPr/>
        </p:nvCxnSpPr>
        <p:spPr>
          <a:xfrm rot="10800000">
            <a:off x="2238238" y="4152975"/>
            <a:ext cx="848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" name="Google Shape;99;p18"/>
          <p:cNvSpPr/>
          <p:nvPr/>
        </p:nvSpPr>
        <p:spPr>
          <a:xfrm>
            <a:off x="608250" y="2688725"/>
            <a:ext cx="1629900" cy="783300"/>
          </a:xfrm>
          <a:prstGeom prst="flowChartAlternateProcess">
            <a:avLst/>
          </a:prstGeom>
          <a:solidFill>
            <a:srgbClr val="F1C232"/>
          </a:solidFill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Visualizações das Regas</a:t>
            </a:r>
            <a:endParaRPr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0" name="Google Shape;100;p18"/>
          <p:cNvCxnSpPr>
            <a:stCxn id="99" idx="2"/>
            <a:endCxn id="96" idx="0"/>
          </p:cNvCxnSpPr>
          <p:nvPr/>
        </p:nvCxnSpPr>
        <p:spPr>
          <a:xfrm>
            <a:off x="1423200" y="3472025"/>
            <a:ext cx="0" cy="28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p18"/>
          <p:cNvCxnSpPr>
            <a:stCxn id="89" idx="3"/>
            <a:endCxn id="93" idx="0"/>
          </p:cNvCxnSpPr>
          <p:nvPr/>
        </p:nvCxnSpPr>
        <p:spPr>
          <a:xfrm>
            <a:off x="7040950" y="1925550"/>
            <a:ext cx="954600" cy="646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8"/>
          <p:cNvCxnSpPr>
            <a:stCxn id="93" idx="2"/>
            <a:endCxn id="94" idx="3"/>
          </p:cNvCxnSpPr>
          <p:nvPr/>
        </p:nvCxnSpPr>
        <p:spPr>
          <a:xfrm rot="5400000">
            <a:off x="7189150" y="3346650"/>
            <a:ext cx="798000" cy="814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1981300" y="274400"/>
            <a:ext cx="6010500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Gill Sans"/>
                <a:ea typeface="Gill Sans"/>
                <a:cs typeface="Gill Sans"/>
                <a:sym typeface="Gill Sans"/>
              </a:rPr>
              <a:t>Limpeza dos dados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1363150" y="1411825"/>
            <a:ext cx="7246800" cy="3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oppins"/>
              <a:buChar char="●"/>
            </a:pPr>
            <a:r>
              <a:rPr lang="pt-BR" sz="1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Dataset original</a:t>
            </a: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Poppins"/>
              <a:buChar char="○"/>
            </a:pPr>
            <a:r>
              <a:rPr lang="pt-BR" sz="1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537.436 instâncias</a:t>
            </a: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Poppins"/>
              <a:buChar char="○"/>
            </a:pPr>
            <a:r>
              <a:rPr lang="pt-BR" sz="1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150 colunas</a:t>
            </a: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oppins"/>
              <a:buChar char="●"/>
            </a:pPr>
            <a:r>
              <a:rPr lang="pt-BR" sz="1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Seleção de atributos relevantes para a análise</a:t>
            </a: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oppins"/>
              <a:buChar char="●"/>
            </a:pPr>
            <a:r>
              <a:rPr lang="pt-BR" sz="1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Remoção de alunos que não fizeram a prova e/ou não preencheram o questionário do estudante</a:t>
            </a: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1455125" y="1065500"/>
            <a:ext cx="65799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¹ Categorização das notas</a:t>
            </a: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² Transformação das respostas em formato adequado</a:t>
            </a:r>
            <a:endParaRPr sz="18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3">
            <a:alphaModFix/>
          </a:blip>
          <a:srcRect b="4232"/>
          <a:stretch/>
        </p:blipFill>
        <p:spPr>
          <a:xfrm>
            <a:off x="1575525" y="2571750"/>
            <a:ext cx="2394075" cy="20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 rotWithShape="1">
          <a:blip r:embed="rId4">
            <a:alphaModFix/>
          </a:blip>
          <a:srcRect r="22875" b="3372"/>
          <a:stretch/>
        </p:blipFill>
        <p:spPr>
          <a:xfrm>
            <a:off x="5227900" y="2571750"/>
            <a:ext cx="2394075" cy="20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1946200" y="3073750"/>
            <a:ext cx="463500" cy="1668300"/>
          </a:xfrm>
          <a:prstGeom prst="rect">
            <a:avLst/>
          </a:prstGeom>
          <a:noFill/>
          <a:ln w="2857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5373125" y="3073750"/>
            <a:ext cx="756900" cy="1668300"/>
          </a:xfrm>
          <a:prstGeom prst="rect">
            <a:avLst/>
          </a:prstGeom>
          <a:noFill/>
          <a:ln w="2857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20"/>
          <p:cNvCxnSpPr>
            <a:stCxn id="116" idx="2"/>
            <a:endCxn id="117" idx="2"/>
          </p:cNvCxnSpPr>
          <p:nvPr/>
        </p:nvCxnSpPr>
        <p:spPr>
          <a:xfrm rot="-5400000" flipH="1">
            <a:off x="3964450" y="2955550"/>
            <a:ext cx="600" cy="3573600"/>
          </a:xfrm>
          <a:prstGeom prst="bentConnector3">
            <a:avLst>
              <a:gd name="adj1" fmla="val 20570833"/>
            </a:avLst>
          </a:prstGeom>
          <a:noFill/>
          <a:ln w="28575" cap="flat" cmpd="sng">
            <a:solidFill>
              <a:srgbClr val="F6B26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0"/>
          <p:cNvSpPr/>
          <p:nvPr/>
        </p:nvSpPr>
        <p:spPr>
          <a:xfrm>
            <a:off x="2515625" y="2997550"/>
            <a:ext cx="1454100" cy="1668300"/>
          </a:xfrm>
          <a:prstGeom prst="rect">
            <a:avLst/>
          </a:prstGeom>
          <a:noFill/>
          <a:ln w="28575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6247400" y="2997550"/>
            <a:ext cx="1307700" cy="1668300"/>
          </a:xfrm>
          <a:prstGeom prst="rect">
            <a:avLst/>
          </a:prstGeom>
          <a:noFill/>
          <a:ln w="28575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1" name="Google Shape;121;p20"/>
          <p:cNvCxnSpPr>
            <a:stCxn id="119" idx="0"/>
            <a:endCxn id="120" idx="0"/>
          </p:cNvCxnSpPr>
          <p:nvPr/>
        </p:nvCxnSpPr>
        <p:spPr>
          <a:xfrm rot="-5400000" flipH="1">
            <a:off x="5071625" y="1168600"/>
            <a:ext cx="600" cy="3658500"/>
          </a:xfrm>
          <a:prstGeom prst="bentConnector3">
            <a:avLst>
              <a:gd name="adj1" fmla="val -39687500"/>
            </a:avLst>
          </a:prstGeom>
          <a:noFill/>
          <a:ln w="28575" cap="flat" cmpd="sng">
            <a:solidFill>
              <a:srgbClr val="783F0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" name="Google Shape;122;p20"/>
          <p:cNvSpPr txBox="1"/>
          <p:nvPr/>
        </p:nvSpPr>
        <p:spPr>
          <a:xfrm>
            <a:off x="4055075" y="4515375"/>
            <a:ext cx="4635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6B26B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800">
              <a:solidFill>
                <a:srgbClr val="F6B26B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4594775" y="2060575"/>
            <a:ext cx="3006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83F04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800">
              <a:solidFill>
                <a:srgbClr val="783F04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1981300" y="198200"/>
            <a:ext cx="60105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Gill Sans"/>
                <a:ea typeface="Gill Sans"/>
                <a:cs typeface="Gill Sans"/>
                <a:sym typeface="Gill Sans"/>
              </a:rPr>
              <a:t>Limpeza dos dados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50" y="1060475"/>
            <a:ext cx="8467200" cy="4028700"/>
          </a:xfrm>
          <a:prstGeom prst="snip1Rect">
            <a:avLst>
              <a:gd name="adj" fmla="val 26480"/>
            </a:avLst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/>
        </p:nvSpPr>
        <p:spPr>
          <a:xfrm>
            <a:off x="1981300" y="198200"/>
            <a:ext cx="60105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Gill Sans"/>
                <a:ea typeface="Gill Sans"/>
                <a:cs typeface="Gill Sans"/>
                <a:sym typeface="Gill Sans"/>
              </a:rPr>
              <a:t>Análise Exploratória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25" y="1037025"/>
            <a:ext cx="8839200" cy="4043100"/>
          </a:xfrm>
          <a:prstGeom prst="snip2SameRect">
            <a:avLst>
              <a:gd name="adj1" fmla="val 1836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5950"/>
            <a:ext cx="8839199" cy="35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5825" y="214200"/>
            <a:ext cx="500730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4552"/>
          <a:stretch/>
        </p:blipFill>
        <p:spPr>
          <a:xfrm>
            <a:off x="1388100" y="731800"/>
            <a:ext cx="6860049" cy="42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2308950" y="3027975"/>
            <a:ext cx="7182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BAIXA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38.841  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6081550" y="2990325"/>
            <a:ext cx="7695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ALTA 57.843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body" idx="4294967295"/>
          </p:nvPr>
        </p:nvSpPr>
        <p:spPr>
          <a:xfrm>
            <a:off x="603550" y="1754300"/>
            <a:ext cx="6966600" cy="19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34343"/>
                </a:solidFill>
                <a:latin typeface="Gill Sans"/>
                <a:ea typeface="Gill Sans"/>
                <a:cs typeface="Gill Sans"/>
                <a:sym typeface="Gill Sans"/>
              </a:rPr>
              <a:t>Aprendizagem não-supervisionado</a:t>
            </a:r>
            <a:endParaRPr sz="2400">
              <a:solidFill>
                <a:srgbClr val="43434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34343"/>
                </a:solidFill>
                <a:latin typeface="Gill Sans"/>
                <a:ea typeface="Gill Sans"/>
                <a:cs typeface="Gill Sans"/>
                <a:sym typeface="Gill Sans"/>
              </a:rPr>
              <a:t>	Regras de Associação</a:t>
            </a:r>
            <a:endParaRPr sz="2400">
              <a:solidFill>
                <a:srgbClr val="43434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pt-BR" sz="2400">
                <a:solidFill>
                  <a:srgbClr val="434343"/>
                </a:solidFill>
                <a:latin typeface="Gill Sans"/>
                <a:ea typeface="Gill Sans"/>
                <a:cs typeface="Gill Sans"/>
                <a:sym typeface="Gill Sans"/>
              </a:rPr>
              <a:t>		Algoritmo Apriori</a:t>
            </a:r>
            <a:endParaRPr sz="2400">
              <a:solidFill>
                <a:srgbClr val="43434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1942825" y="518850"/>
            <a:ext cx="60105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Gill Sans"/>
                <a:ea typeface="Gill Sans"/>
                <a:cs typeface="Gill Sans"/>
                <a:sym typeface="Gill Sans"/>
              </a:rPr>
              <a:t>Construção do modelo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654350" y="4156725"/>
            <a:ext cx="78627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BOGUSKI, Rodrigo Ruy; CURY, Davidson. Usando regras de associação para a identificação de falhas conceituais. In: </a:t>
            </a:r>
            <a:r>
              <a:rPr lang="pt-BR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Brazilian Symposium on Computers in Education (Simpósio Brasileiro de Informática na Educação-SBIE)</a:t>
            </a: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2018. p. 1443.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64" name="Google Shape;164;p27"/>
          <p:cNvGraphicFramePr/>
          <p:nvPr/>
        </p:nvGraphicFramePr>
        <p:xfrm>
          <a:off x="2941125" y="211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163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Suporte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Confiança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0.2 - 1.0 step 0.2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5" name="Google Shape;165;p27"/>
          <p:cNvSpPr txBox="1"/>
          <p:nvPr/>
        </p:nvSpPr>
        <p:spPr>
          <a:xfrm>
            <a:off x="2232025" y="518850"/>
            <a:ext cx="52077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Gill Sans"/>
                <a:ea typeface="Gill Sans"/>
                <a:cs typeface="Gill Sans"/>
                <a:sym typeface="Gill Sans"/>
              </a:rPr>
              <a:t>Otimização de Hiperparâmetros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28"/>
          <p:cNvGraphicFramePr/>
          <p:nvPr/>
        </p:nvGraphicFramePr>
        <p:xfrm>
          <a:off x="324450" y="1576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26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Confiança 0.80</a:t>
                      </a:r>
                      <a:endParaRPr b="1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participou de programas e/ou atividades curriculares no exterior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recebeu nenhum tipo de auxílio permanência 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teve oportunidade de aprendizado de idioma estrangeiro na Instituição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Trabalho 40 horas semanais ou mais  (exceto estágio ou bolsas)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1" name="Google Shape;171;p28"/>
          <p:cNvGraphicFramePr/>
          <p:nvPr/>
        </p:nvGraphicFramePr>
        <p:xfrm>
          <a:off x="6208450" y="15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264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Confiança 0.81</a:t>
                      </a:r>
                      <a:endParaRPr b="1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Concluiu o ensino médio tradicional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Renda total de sua família, incluindo seus rendimentos é de até 1,5 salário mínimo (até R$ 1.405,50)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2" name="Google Shape;172;p28"/>
          <p:cNvGraphicFramePr/>
          <p:nvPr/>
        </p:nvGraphicFramePr>
        <p:xfrm>
          <a:off x="3324700" y="15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264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Confiança 0.80</a:t>
                      </a:r>
                      <a:endParaRPr b="1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recebeu nenhuma bolsa acadêmica ao longo da sua trajetória</a:t>
                      </a:r>
                      <a:endParaRPr sz="12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Concluiu o ensino médio tradicional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participou de programas e/ou atividades curriculares no exterior</a:t>
                      </a:r>
                      <a:endParaRPr sz="12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recebeu nenhum tipo de auxílio permanência </a:t>
                      </a:r>
                      <a:endParaRPr sz="12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3" name="Google Shape;173;p28"/>
          <p:cNvSpPr txBox="1"/>
          <p:nvPr/>
        </p:nvSpPr>
        <p:spPr>
          <a:xfrm>
            <a:off x="1942325" y="137000"/>
            <a:ext cx="57423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NOTAS BAIXAS</a:t>
            </a:r>
            <a:endParaRPr sz="1800"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29"/>
          <p:cNvGraphicFramePr/>
          <p:nvPr/>
        </p:nvGraphicFramePr>
        <p:xfrm>
          <a:off x="3282775" y="139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26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Confiança 0.80</a:t>
                      </a:r>
                      <a:endParaRPr b="1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Alguém em sua família concluiu um curso superior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Cursou o ensino médio todo em escola privada (particular)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recebeu nenhum tipo de auxílio permanência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 ingresso no curso de graduação não se deu por meio de políticas de ação afirmativa ou inclusão social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Concluiu o ensino médio profissionalizante técnico.</a:t>
                      </a:r>
                      <a:endParaRPr sz="12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9" name="Google Shape;179;p29"/>
          <p:cNvGraphicFramePr/>
          <p:nvPr/>
        </p:nvGraphicFramePr>
        <p:xfrm>
          <a:off x="6288700" y="139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264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Confiança 0.92</a:t>
                      </a:r>
                      <a:endParaRPr b="1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Cursou o ensino médio todo em escola privada (particular)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Não recebeu nenhum tipo de auxílio permanência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 ingresso no curso de graduação não se deu por meio de políticas de ação afirmativa ou inclusão social</a:t>
                      </a:r>
                      <a:endParaRPr sz="12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0" name="Google Shape;180;p29"/>
          <p:cNvGraphicFramePr/>
          <p:nvPr/>
        </p:nvGraphicFramePr>
        <p:xfrm>
          <a:off x="317150" y="139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{FC7E6033-E009-436F-B9FF-DA368144F852}</a:tableStyleId>
              </a:tblPr>
              <a:tblGrid>
                <a:gridCol w="264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Confiança 0.85</a:t>
                      </a:r>
                      <a:endParaRPr b="1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Concluiu o ensino médio tradicional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Os pais deram o maior incentivo para cursar a graduação</a:t>
                      </a:r>
                      <a:endParaRPr sz="12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Cursou o ensino médio todo em escola privada (particular) </a:t>
                      </a:r>
                      <a:endParaRPr sz="12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1" name="Google Shape;181;p29"/>
          <p:cNvSpPr txBox="1"/>
          <p:nvPr/>
        </p:nvSpPr>
        <p:spPr>
          <a:xfrm>
            <a:off x="2119225" y="163625"/>
            <a:ext cx="54291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NOTAS ALTAS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/>
        </p:nvSpPr>
        <p:spPr>
          <a:xfrm>
            <a:off x="1648400" y="1103075"/>
            <a:ext cx="4548600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0600"/>
            <a:ext cx="8867299" cy="36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 rotWithShape="1">
          <a:blip r:embed="rId3">
            <a:alphaModFix/>
          </a:blip>
          <a:srcRect l="3081" t="-2430" b="2429"/>
          <a:stretch/>
        </p:blipFill>
        <p:spPr>
          <a:xfrm>
            <a:off x="577375" y="917325"/>
            <a:ext cx="8566500" cy="42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2"/>
          <p:cNvPicPr preferRelativeResize="0"/>
          <p:nvPr/>
        </p:nvPicPr>
        <p:blipFill rotWithShape="1">
          <a:blip r:embed="rId3">
            <a:alphaModFix/>
          </a:blip>
          <a:srcRect l="1685" r="8644" b="8240"/>
          <a:stretch/>
        </p:blipFill>
        <p:spPr>
          <a:xfrm>
            <a:off x="910875" y="881950"/>
            <a:ext cx="7717800" cy="3980100"/>
          </a:xfrm>
          <a:prstGeom prst="snip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/>
        </p:nvSpPr>
        <p:spPr>
          <a:xfrm>
            <a:off x="836050" y="939575"/>
            <a:ext cx="7483800" cy="3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References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Zaki, Mohammed J., Wagner Meira Jr, and Wagner Meira. Data mining and analysis: fundamental concepts and algorithms. Cambridge University Press, 2014.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/>
        </p:nvSpPr>
        <p:spPr>
          <a:xfrm>
            <a:off x="3447750" y="550350"/>
            <a:ext cx="2248500" cy="4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?</a:t>
            </a:r>
            <a:endParaRPr sz="30000">
              <a:solidFill>
                <a:srgbClr val="B7B7B7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PresentationFormat>Apresentação na tela (16:9)</PresentationFormat>
  <Paragraphs>113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Gill Sans</vt:lpstr>
      <vt:lpstr>Poppins</vt:lpstr>
      <vt:lpstr>Arial</vt:lpstr>
      <vt:lpstr>Poppins Medium</vt:lpstr>
      <vt:lpstr>Simple Light</vt:lpstr>
      <vt:lpstr>Como minerar regras de associação  para auxiliar na tomada de decisão de gestores da educação superior?</vt:lpstr>
      <vt:lpstr>Apresentação do PowerPoint</vt:lpstr>
      <vt:lpstr>Apresentação do PowerPoint</vt:lpstr>
      <vt:lpstr>Apresentação do PowerPoint</vt:lpstr>
      <vt:lpstr>Áreas avaliadas - ENADE 2017</vt:lpstr>
      <vt:lpstr>Metodologia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minerar regras de associação  para auxiliar na tomada de decisão de gestores da educação superior?</dc:title>
  <cp:lastModifiedBy>judson Moura</cp:lastModifiedBy>
  <cp:revision>1</cp:revision>
  <dcterms:modified xsi:type="dcterms:W3CDTF">2021-02-18T12:42:26Z</dcterms:modified>
</cp:coreProperties>
</file>